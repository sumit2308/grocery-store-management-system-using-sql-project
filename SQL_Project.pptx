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4" r:id="rId14"/>
    <p:sldId id="269" r:id="rId15"/>
    <p:sldId id="270" r:id="rId16"/>
    <p:sldId id="271" r:id="rId17"/>
    <p:sldId id="272" r:id="rId18"/>
    <p:sldId id="259" r:id="rId19"/>
  </p:sldIdLst>
  <p:sldSz cx="12192000" cy="6858000"/>
  <p:notesSz cx="6858000" cy="9144000"/>
  <p:embeddedFontLs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kedin.com/in/sumit-mangalwedhekar-0a60aa274" TargetMode="External"/><Relationship Id="rId4" Type="http://schemas.openxmlformats.org/officeDocument/2006/relationships/hyperlink" Target="https://github.com/Sumit230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47483"/>
            <a:ext cx="724618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3200" b="1" dirty="0"/>
              <a:t>Grocery Store Management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F8A04E-8287-4076-B137-8AABAA6CC11B}"/>
              </a:ext>
            </a:extLst>
          </p:cNvPr>
          <p:cNvSpPr txBox="1"/>
          <p:nvPr/>
        </p:nvSpPr>
        <p:spPr>
          <a:xfrm>
            <a:off x="5934456" y="5333499"/>
            <a:ext cx="5093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By Sumit Mangalwedhekar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D2C6D9-8504-B78D-ABBB-BAA2DEC4C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5" name="Google Shape;105;p3"/>
          <p:cNvSpPr txBox="1"/>
          <p:nvPr/>
        </p:nvSpPr>
        <p:spPr>
          <a:xfrm>
            <a:off x="737811" y="247589"/>
            <a:ext cx="639848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0" i="0" u="none" strike="noStrike" cap="none" dirty="0">
                <a:solidFill>
                  <a:schemeClr val="accent6"/>
                </a:solidFill>
                <a:latin typeface="Lato Black"/>
                <a:ea typeface="Lato Black"/>
                <a:cs typeface="Lato Black"/>
                <a:sym typeface="Lato Black"/>
              </a:rPr>
              <a:t>About</a:t>
            </a:r>
            <a:r>
              <a:rPr lang="en-IN" sz="3200" b="0" i="0" u="none" strike="noStrike" cap="none" dirty="0">
                <a:solidFill>
                  <a:schemeClr val="accent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IN" sz="4000" b="0" i="0" u="none" strike="noStrike" cap="none" dirty="0">
                <a:solidFill>
                  <a:schemeClr val="accent6"/>
                </a:solidFill>
                <a:latin typeface="Lato Black"/>
                <a:ea typeface="Lato Black"/>
                <a:cs typeface="Lato Black"/>
                <a:sym typeface="Lato Black"/>
              </a:rPr>
              <a:t>me</a:t>
            </a:r>
            <a:endParaRPr sz="1800" b="0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1866295" y="1449978"/>
            <a:ext cx="9737441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400" b="1" dirty="0"/>
              <a:t>Name: Sumit </a:t>
            </a:r>
            <a:r>
              <a:rPr lang="en-IN" sz="2400" b="1" dirty="0" err="1"/>
              <a:t>Mangalwedhekar</a:t>
            </a:r>
            <a:endParaRPr lang="en-IN" sz="2400" b="1" dirty="0"/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400" b="1" dirty="0"/>
              <a:t>Education: </a:t>
            </a:r>
            <a:r>
              <a:rPr lang="en-IN" sz="2400" dirty="0" err="1"/>
              <a:t>B.Tech</a:t>
            </a:r>
            <a:r>
              <a:rPr lang="en-IN" sz="2400" dirty="0"/>
              <a:t> – Artificial Intelligence &amp; Data Science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400" b="1" dirty="0"/>
              <a:t>College: </a:t>
            </a:r>
            <a:r>
              <a:rPr lang="en-IN" sz="2400" dirty="0"/>
              <a:t>Vishwakarma University</a:t>
            </a:r>
          </a:p>
          <a:p>
            <a:pPr marL="285750" lvl="0" indent="-323850">
              <a:lnSpc>
                <a:spcPct val="150000"/>
              </a:lnSpc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-IN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https://github.com/Sumit2308</a:t>
            </a:r>
            <a:endParaRPr lang="en-IN" sz="2400" b="1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lnSpc>
                <a:spcPct val="150000"/>
              </a:lnSpc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LinkedIn: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https://www.linkedin.com/in/sumit-mangalwedhekar-0a60aa274</a:t>
            </a:r>
            <a:endParaRPr sz="2400" b="1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36DB1E-922F-7944-CF2F-97D5B272E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25337" cy="6858000"/>
          </a:xfrm>
          <a:prstGeom prst="rect">
            <a:avLst/>
          </a:prstGeom>
        </p:spPr>
      </p:pic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739085" y="-9940"/>
            <a:ext cx="2173080" cy="96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000" b="1" dirty="0">
                <a:solidFill>
                  <a:schemeClr val="accent6"/>
                </a:solidFill>
              </a:rPr>
              <a:t>Agenda</a:t>
            </a:r>
            <a:r>
              <a:rPr lang="en-IN" b="1" dirty="0">
                <a:solidFill>
                  <a:schemeClr val="accent6"/>
                </a:solidFill>
              </a:rPr>
              <a:t>   </a:t>
            </a:r>
            <a:endParaRPr b="1" dirty="0">
              <a:solidFill>
                <a:schemeClr val="accent6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3600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ER Diagram and schema explanation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(use cases)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SQL query results with summaries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Final business insights and recommendations</a:t>
            </a:r>
          </a:p>
          <a:p>
            <a:pPr indent="-431800">
              <a:buSzPts val="2400"/>
            </a:pPr>
            <a:r>
              <a:rPr lang="en-US" sz="2400" b="1" dirty="0"/>
              <a:t>Experience/Challenges working on SQL – Data Analysis Project.</a:t>
            </a:r>
          </a:p>
          <a:p>
            <a:pPr indent="-431800">
              <a:buSzPts val="2400"/>
            </a:pPr>
            <a:r>
              <a:rPr lang="en-IN" sz="2400" b="1" dirty="0"/>
              <a:t>Conclusion (Key finding overall) </a:t>
            </a:r>
            <a:endParaRPr lang="en-IN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093821-E057-B34D-4969-D9BFCAD89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8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FA1CB0-36BA-D072-F878-586DA7AF0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314" y="0"/>
            <a:ext cx="10537371" cy="99865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6"/>
                </a:solidFill>
              </a:rPr>
              <a:t>OBJECTIVE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0729B-A88D-9286-C27A-2E1E55B97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1857" y="1065853"/>
            <a:ext cx="9688286" cy="502402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The main objectives of this project were:</a:t>
            </a:r>
          </a:p>
          <a:p>
            <a:r>
              <a:rPr lang="en-US" sz="1800" dirty="0"/>
              <a:t>To design and implement a relational database for a grocery store.</a:t>
            </a:r>
          </a:p>
          <a:p>
            <a:r>
              <a:rPr lang="en-US" sz="1800" dirty="0"/>
              <a:t>To retrieve and manipulate structured data using SQL.</a:t>
            </a:r>
          </a:p>
          <a:p>
            <a:r>
              <a:rPr lang="en-US" sz="1800" dirty="0"/>
              <a:t>To analyze customer behavior, product performance, and revenue trends.</a:t>
            </a:r>
          </a:p>
          <a:p>
            <a:r>
              <a:rPr lang="en-US" sz="1800" dirty="0"/>
              <a:t>To apply joins, aggregations, subqueries, filtering, and date functions for business intelligence.</a:t>
            </a:r>
          </a:p>
          <a:p>
            <a:pPr marL="114300" indent="0">
              <a:buNone/>
            </a:pPr>
            <a:endParaRPr lang="en-US" sz="1800" dirty="0"/>
          </a:p>
          <a:p>
            <a:pPr marL="114300" indent="0">
              <a:buNone/>
            </a:pPr>
            <a:r>
              <a:rPr lang="en-US" sz="2000" b="1" dirty="0"/>
              <a:t>Dataset Summary:</a:t>
            </a:r>
          </a:p>
          <a:p>
            <a:r>
              <a:rPr lang="en-US" sz="1800" dirty="0"/>
              <a:t>200 Customers</a:t>
            </a:r>
          </a:p>
          <a:p>
            <a:r>
              <a:rPr lang="en-US" sz="1800" dirty="0"/>
              <a:t>50 Products</a:t>
            </a:r>
          </a:p>
          <a:p>
            <a:r>
              <a:rPr lang="en-US" sz="1800" dirty="0"/>
              <a:t>300 Orders</a:t>
            </a:r>
          </a:p>
          <a:p>
            <a:r>
              <a:rPr lang="en-US" sz="1800" dirty="0"/>
              <a:t>5 Suppliers</a:t>
            </a:r>
          </a:p>
          <a:p>
            <a:r>
              <a:rPr lang="en-US" sz="1800" dirty="0"/>
              <a:t>10 Employees</a:t>
            </a:r>
          </a:p>
          <a:p>
            <a:r>
              <a:rPr lang="en-US" sz="1800" dirty="0"/>
              <a:t>Total Revenue: ₹551,329.93</a:t>
            </a:r>
          </a:p>
          <a:p>
            <a:pPr marL="11430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2920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C07AD-BAD2-3FE3-1F7F-EE0FF7834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84A15C-34E4-7074-4BDC-0915A58F8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9614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6"/>
                </a:solidFill>
              </a:rPr>
              <a:t>ER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B57F7-60E7-DB17-20B1-BF364D3A8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547" y="930561"/>
            <a:ext cx="10084905" cy="499687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470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C1CCA7-E5DE-76C8-4102-9E003791F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73BEB6-0E54-BDCE-4FFC-3CB5B5F7C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09" y="1"/>
            <a:ext cx="10515600" cy="96409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6"/>
                </a:solidFill>
              </a:rPr>
              <a:t>SCHEMA EXPLANATION:</a:t>
            </a:r>
            <a:endParaRPr lang="en-IN" sz="4000" dirty="0">
              <a:solidFill>
                <a:schemeClr val="accent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94451-C644-6968-C91E-13EA2BFF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8809" y="1253331"/>
            <a:ext cx="3654287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Database Structure:</a:t>
            </a:r>
          </a:p>
          <a:p>
            <a:r>
              <a:rPr lang="en-US" sz="1800" dirty="0"/>
              <a:t>Tables Used:</a:t>
            </a:r>
          </a:p>
          <a:p>
            <a:r>
              <a:rPr lang="en-US" sz="1800" dirty="0"/>
              <a:t>supplier</a:t>
            </a:r>
          </a:p>
          <a:p>
            <a:r>
              <a:rPr lang="en-US" sz="1800" dirty="0"/>
              <a:t>categories</a:t>
            </a:r>
          </a:p>
          <a:p>
            <a:r>
              <a:rPr lang="en-US" sz="1800" dirty="0"/>
              <a:t>products</a:t>
            </a:r>
          </a:p>
          <a:p>
            <a:r>
              <a:rPr lang="en-US" sz="1800" dirty="0"/>
              <a:t>customers</a:t>
            </a:r>
          </a:p>
          <a:p>
            <a:r>
              <a:rPr lang="en-US" sz="1800" dirty="0"/>
              <a:t>employees</a:t>
            </a:r>
          </a:p>
          <a:p>
            <a:r>
              <a:rPr lang="en-US" sz="1800" dirty="0"/>
              <a:t>orders</a:t>
            </a:r>
          </a:p>
          <a:p>
            <a:r>
              <a:rPr lang="en-US" sz="1800" dirty="0" err="1"/>
              <a:t>order_details</a:t>
            </a:r>
            <a:endParaRPr lang="en-US" sz="1800" dirty="0"/>
          </a:p>
          <a:p>
            <a:pPr marL="114300" indent="0">
              <a:buNone/>
            </a:pPr>
            <a:endParaRPr lang="en-IN" sz="20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F3FE76D-ABD0-62B3-62E0-EB51D7D2F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236" y="1664894"/>
            <a:ext cx="5416826" cy="2734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000" b="1" dirty="0"/>
              <a:t>Relationships: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Supplier → Many Products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Customer → Many Orders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Employee → Many Orders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Order → Many Order Details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Category → Many Products</a:t>
            </a:r>
          </a:p>
        </p:txBody>
      </p:sp>
    </p:spTree>
    <p:extLst>
      <p:ext uri="{BB962C8B-B14F-4D97-AF65-F5344CB8AC3E}">
        <p14:creationId xmlns:p14="http://schemas.microsoft.com/office/powerpoint/2010/main" val="1626669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3950CE-DB49-6092-566B-B9005DE6C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757453-C4C7-7285-89AB-1FE118B7D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69" y="1"/>
            <a:ext cx="10515600" cy="105354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6"/>
                </a:solidFill>
              </a:rPr>
              <a:t>KEY ANALYSIS QUESTIONS (USE CASES)</a:t>
            </a:r>
            <a:endParaRPr lang="en-IN" sz="4000" b="1" dirty="0">
              <a:solidFill>
                <a:schemeClr val="accent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EEACD-9C42-3146-7175-5D71B158A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14400"/>
            <a:ext cx="10515600" cy="5168348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US" b="1" dirty="0"/>
              <a:t>Customer Insights</a:t>
            </a:r>
          </a:p>
          <a:p>
            <a:r>
              <a:rPr lang="en-US" dirty="0"/>
              <a:t>Who are the top customers?</a:t>
            </a:r>
          </a:p>
          <a:p>
            <a:r>
              <a:rPr lang="en-US" dirty="0"/>
              <a:t>What is the average purchase per customer?</a:t>
            </a:r>
          </a:p>
          <a:p>
            <a:pPr marL="114300" indent="0">
              <a:lnSpc>
                <a:spcPct val="170000"/>
              </a:lnSpc>
              <a:buNone/>
            </a:pPr>
            <a:r>
              <a:rPr lang="en-US" b="1" dirty="0"/>
              <a:t>Product Performance</a:t>
            </a:r>
          </a:p>
          <a:p>
            <a:r>
              <a:rPr lang="en-US" dirty="0"/>
              <a:t>Which products sell the most?</a:t>
            </a:r>
          </a:p>
          <a:p>
            <a:r>
              <a:rPr lang="en-US" dirty="0"/>
              <a:t>Which month generate the highest revenue?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b="1" dirty="0"/>
              <a:t>Sales &amp; Trends</a:t>
            </a:r>
          </a:p>
          <a:p>
            <a:r>
              <a:rPr lang="en-US" dirty="0"/>
              <a:t>What is the total revenue?</a:t>
            </a:r>
          </a:p>
          <a:p>
            <a:r>
              <a:rPr lang="en-US" dirty="0"/>
              <a:t>What are the monthly revenue patterns?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b="1" dirty="0"/>
              <a:t>Supplier Contribution</a:t>
            </a:r>
          </a:p>
          <a:p>
            <a:r>
              <a:rPr lang="en-US" dirty="0"/>
              <a:t>Which supplier contributes most revenue?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US" b="1" dirty="0"/>
              <a:t>Employee Performance</a:t>
            </a:r>
          </a:p>
          <a:p>
            <a:r>
              <a:rPr lang="en-US" dirty="0"/>
              <a:t>Which employees process the most sales?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32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B09144-0A45-09AA-C6CA-9704FBB92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290"/>
            <a:ext cx="12192002" cy="68692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152AD3-3198-8E68-ABE4-83CD9562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0"/>
            <a:ext cx="10515600" cy="104523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6"/>
                </a:solidFill>
              </a:rPr>
              <a:t>SQL QUERY RESULTS (CUSTOMER INSIGHTS)</a:t>
            </a:r>
            <a:endParaRPr lang="en-IN" sz="4000" b="1" dirty="0">
              <a:solidFill>
                <a:schemeClr val="accent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D2A25-7C29-36D3-3853-46F52D3C1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6342" y="1081742"/>
            <a:ext cx="5494867" cy="511347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b="1" dirty="0"/>
              <a:t>Top 5 Customers:</a:t>
            </a:r>
          </a:p>
          <a:p>
            <a:r>
              <a:rPr lang="en-IN" sz="2000" dirty="0"/>
              <a:t>Chetan Naidu – ₹19,055.23</a:t>
            </a:r>
          </a:p>
          <a:p>
            <a:r>
              <a:rPr lang="en-IN" sz="2000" dirty="0"/>
              <a:t>Gita Menon – ₹17,799.38</a:t>
            </a:r>
          </a:p>
          <a:p>
            <a:r>
              <a:rPr lang="en-IN" sz="2000" dirty="0"/>
              <a:t>Chetan Iyer – ₹17,518.60</a:t>
            </a:r>
          </a:p>
          <a:p>
            <a:r>
              <a:rPr lang="en-IN" sz="2000" dirty="0"/>
              <a:t>Eshwar Rao – ₹16,679.82</a:t>
            </a:r>
          </a:p>
          <a:p>
            <a:r>
              <a:rPr lang="en-IN" sz="2000" dirty="0"/>
              <a:t>Hari Naidu – ₹15,468.21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2000" b="1" dirty="0"/>
              <a:t>Top 5 customers contribute:</a:t>
            </a:r>
            <a:br>
              <a:rPr lang="en-IN" sz="2000" dirty="0"/>
            </a:br>
            <a:r>
              <a:rPr lang="en-IN" sz="2000" dirty="0"/>
              <a:t>₹86,521.24 → </a:t>
            </a:r>
            <a:r>
              <a:rPr lang="en-IN" sz="2000" b="1" dirty="0"/>
              <a:t>15.7% of total revenue</a:t>
            </a:r>
            <a:endParaRPr lang="en-IN" sz="2000" dirty="0"/>
          </a:p>
          <a:p>
            <a:pPr marL="114300" indent="0">
              <a:lnSpc>
                <a:spcPct val="150000"/>
              </a:lnSpc>
              <a:buNone/>
            </a:pPr>
            <a:r>
              <a:rPr lang="en-IN" sz="2000" b="1" dirty="0"/>
              <a:t>Insight:</a:t>
            </a:r>
            <a:br>
              <a:rPr lang="en-IN" sz="2000" dirty="0"/>
            </a:br>
            <a:r>
              <a:rPr lang="en-IN" sz="2000" dirty="0"/>
              <a:t>  Customer revenue is moderately distributed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5FB0FD-EF88-2D27-2918-038ABC19A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261" y="993446"/>
            <a:ext cx="4848902" cy="28960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F75005-2F66-D4D7-9548-4280B4019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757" y="4197446"/>
            <a:ext cx="2610214" cy="16671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8370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4DE6F8-DF23-F5BD-A279-6E875DF90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2D642A-617D-51E0-7FB7-60B0676E8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7"/>
            <a:ext cx="10515599" cy="1070314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6"/>
                </a:solidFill>
              </a:rPr>
              <a:t>SQL QUERY RESULTS (PRODUCT PERFORMANCE)</a:t>
            </a:r>
            <a:endParaRPr lang="en-IN" sz="4000" b="1" dirty="0">
              <a:solidFill>
                <a:schemeClr val="accent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B9FBC-57A6-D6FF-4D99-BE398D060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8571"/>
            <a:ext cx="10515600" cy="5088392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Top Selling Products (by quantity):</a:t>
            </a:r>
          </a:p>
          <a:p>
            <a:r>
              <a:rPr lang="en-US" dirty="0"/>
              <a:t>Bath Soap – 60 units</a:t>
            </a:r>
          </a:p>
          <a:p>
            <a:r>
              <a:rPr lang="en-US" dirty="0"/>
              <a:t>Hand Sanitizer – 56 units</a:t>
            </a:r>
          </a:p>
          <a:p>
            <a:r>
              <a:rPr lang="en-US" dirty="0"/>
              <a:t>Dishwashing Soap – 54 units</a:t>
            </a:r>
          </a:p>
          <a:p>
            <a:r>
              <a:rPr lang="en-US" dirty="0"/>
              <a:t>Biscuits – 54 units</a:t>
            </a:r>
          </a:p>
          <a:p>
            <a:r>
              <a:rPr lang="en-US" dirty="0"/>
              <a:t>Potato Chips – 54 units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    Essential daily-use products dominate sales.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501287-F7B2-0ACD-C921-1A4C8F099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106828"/>
            <a:ext cx="5047488" cy="25141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14DD76-D03D-656F-069B-F008B59A2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20" y="3825752"/>
            <a:ext cx="2907792" cy="26917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7935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686990-1781-8B94-9A9C-921CAEF4B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6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29EECC-9304-0175-0AB8-77F13744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32114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6"/>
                </a:solidFill>
              </a:rPr>
              <a:t>SQL QUERY RESULTS (REVENUE &amp; TRENDS)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5A31E-0EA2-7E85-DAE8-B98D41E07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45233"/>
            <a:ext cx="10515600" cy="491824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Total Revenue: ₹551,329.93</a:t>
            </a:r>
          </a:p>
          <a:p>
            <a:pPr>
              <a:lnSpc>
                <a:spcPct val="100000"/>
              </a:lnSpc>
            </a:pPr>
            <a:r>
              <a:rPr lang="en-US" b="1" dirty="0"/>
              <a:t>Average Order Value: ₹1,837.77</a:t>
            </a:r>
          </a:p>
          <a:p>
            <a:pPr>
              <a:lnSpc>
                <a:spcPct val="100000"/>
              </a:lnSpc>
            </a:pPr>
            <a:r>
              <a:rPr lang="en-US" dirty="0"/>
              <a:t>Highest Revenue Month:</a:t>
            </a:r>
            <a:br>
              <a:rPr lang="en-US" dirty="0"/>
            </a:br>
            <a:r>
              <a:rPr lang="en-US" dirty="0"/>
              <a:t>October – ₹66,862.80</a:t>
            </a:r>
          </a:p>
          <a:p>
            <a:pPr>
              <a:lnSpc>
                <a:spcPct val="100000"/>
              </a:lnSpc>
            </a:pPr>
            <a:r>
              <a:rPr lang="en-US" dirty="0"/>
              <a:t>Lowest Revenue Month:</a:t>
            </a:r>
            <a:br>
              <a:rPr lang="en-US" dirty="0"/>
            </a:br>
            <a:r>
              <a:rPr lang="en-US" dirty="0"/>
              <a:t>July – ₹32,654.79</a:t>
            </a:r>
          </a:p>
          <a:p>
            <a:pPr>
              <a:lnSpc>
                <a:spcPct val="100000"/>
              </a:lnSpc>
            </a:pPr>
            <a:r>
              <a:rPr lang="en-US" dirty="0"/>
              <a:t>Observation:</a:t>
            </a:r>
            <a:br>
              <a:rPr lang="en-US" dirty="0"/>
            </a:br>
            <a:r>
              <a:rPr lang="en-US" dirty="0"/>
              <a:t>Strong Q4 seasonal spike.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47D82A-F200-C358-5167-5E849A07F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963" y="1053958"/>
            <a:ext cx="4467849" cy="11526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6B7D34-8CAC-54E8-776E-BB374A0C1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8466" y="1957668"/>
            <a:ext cx="1485062" cy="639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54DB51-BBBB-5507-DEEE-0F9CEB2AD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963" y="2988567"/>
            <a:ext cx="4059990" cy="31350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9177E2-A4BA-E3DF-8FAF-782D7599E7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925" y="5815329"/>
            <a:ext cx="2238687" cy="6382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8303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BF6C34-AB96-82C7-5659-97CBBCB73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62ACB5-FC02-A9BE-22DB-C0E69B6C8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84988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6"/>
                </a:solidFill>
              </a:rPr>
              <a:t>SQL QUERY RESULTS (SUPPLIER CONTRIBUTION)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863C6-75D4-B192-C157-34A844730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52533"/>
            <a:ext cx="10515600" cy="480222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Supplier Revenue Contribution:</a:t>
            </a:r>
          </a:p>
          <a:p>
            <a:r>
              <a:rPr lang="en-US" dirty="0"/>
              <a:t>Aarya – 40.1%</a:t>
            </a:r>
          </a:p>
          <a:p>
            <a:r>
              <a:rPr lang="en-US" dirty="0"/>
              <a:t>Sai – 20.6%</a:t>
            </a:r>
          </a:p>
          <a:p>
            <a:r>
              <a:rPr lang="en-US" dirty="0"/>
              <a:t>Suresh – 18.4%</a:t>
            </a:r>
          </a:p>
          <a:p>
            <a:r>
              <a:rPr lang="en-US" dirty="0"/>
              <a:t>Karthik – 14.8%</a:t>
            </a:r>
          </a:p>
          <a:p>
            <a:r>
              <a:rPr lang="en-US" dirty="0"/>
              <a:t>Aarav Sharma – 6%</a:t>
            </a:r>
          </a:p>
          <a:p>
            <a:pPr marL="114300" indent="0">
              <a:buNone/>
            </a:pPr>
            <a:r>
              <a:rPr lang="en-US" b="1" dirty="0"/>
              <a:t>Key Finding:</a:t>
            </a:r>
            <a:br>
              <a:rPr lang="en-US" dirty="0"/>
            </a:br>
            <a:r>
              <a:rPr lang="en-US" dirty="0"/>
              <a:t>    High dependency on one supplier (40%).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1C39AD-6B47-7A9C-911A-5F8E5E938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05" y="952533"/>
            <a:ext cx="4783332" cy="30214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89C1B9-EA26-3EA6-16E8-DB2B7A083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035" y="4056523"/>
            <a:ext cx="4014765" cy="16156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70891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217FD6-4588-AD60-FDA8-0EC9E5F90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8256"/>
            <a:ext cx="12224453" cy="68762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1ADE6B-02CC-516F-07A3-B607ADCDA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503" y="18255"/>
            <a:ext cx="10676993" cy="102488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6"/>
                </a:solidFill>
              </a:rPr>
              <a:t>SQL QUERY RESULTS (EMPLOYEE PERFORMANCE)</a:t>
            </a:r>
            <a:endParaRPr lang="en-IN" sz="4000" b="1" dirty="0">
              <a:solidFill>
                <a:schemeClr val="accent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0AFB4-220D-D8E6-108E-974396081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123" y="1297289"/>
            <a:ext cx="4270514" cy="4517571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000" b="1" dirty="0"/>
              <a:t>Revenue Processed by Each Employee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/>
              <a:t>Top Performers:</a:t>
            </a:r>
          </a:p>
          <a:p>
            <a:r>
              <a:rPr lang="en-IN" sz="2000" dirty="0"/>
              <a:t>Aditya Singh – ₹79,252.29</a:t>
            </a:r>
          </a:p>
          <a:p>
            <a:r>
              <a:rPr lang="en-IN" sz="2000" dirty="0"/>
              <a:t>Zara Verma – ₹71,562.76</a:t>
            </a:r>
          </a:p>
          <a:p>
            <a:r>
              <a:rPr lang="en-IN" sz="2000" dirty="0"/>
              <a:t>Diya Sharma – ₹67,241.85</a:t>
            </a:r>
          </a:p>
          <a:p>
            <a:r>
              <a:rPr lang="en-IN" sz="2000" dirty="0"/>
              <a:t>Pari Kumar – ₹66,818.39</a:t>
            </a:r>
          </a:p>
          <a:p>
            <a:pPr marL="114300" indent="0">
              <a:lnSpc>
                <a:spcPct val="100000"/>
              </a:lnSpc>
              <a:buNone/>
            </a:pPr>
            <a:r>
              <a:rPr lang="en-IN" sz="2000" b="1" dirty="0"/>
              <a:t>Lowest Performer: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Aditya Verma – ₹34,204.51</a:t>
            </a:r>
          </a:p>
          <a:p>
            <a:endParaRPr lang="en-IN" sz="2000" dirty="0"/>
          </a:p>
          <a:p>
            <a:pPr marL="114300" indent="0">
              <a:buNone/>
            </a:pP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A7A0E3-864B-BE6D-0711-E57E2F897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297289"/>
            <a:ext cx="4221132" cy="22318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37216C-7F9D-6CAF-6CAA-9E7297343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036" y="3556074"/>
            <a:ext cx="2767579" cy="25795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6234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768F2-F34E-EC50-BAC1-35C696E04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D21C4F-BA1C-F1C2-19CE-FB40CC89B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8256"/>
            <a:ext cx="12224453" cy="68762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A1F4C8-68E5-8862-EBF4-CC156D6F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503" y="18255"/>
            <a:ext cx="10676993" cy="102488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6"/>
                </a:solidFill>
              </a:rPr>
              <a:t>SQL QUERY RESULTS (EMPLOYEE PERFORMANCE)</a:t>
            </a:r>
            <a:endParaRPr lang="en-IN" sz="4000" b="1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B163E-5E6A-D900-2639-5D19BF0AE116}"/>
              </a:ext>
            </a:extLst>
          </p:cNvPr>
          <p:cNvSpPr txBox="1"/>
          <p:nvPr/>
        </p:nvSpPr>
        <p:spPr>
          <a:xfrm>
            <a:off x="664027" y="1103010"/>
            <a:ext cx="5431972" cy="465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2000" b="1" dirty="0"/>
              <a:t>Key Metrics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Total Employees: 10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Total Revenue: ₹551,329.93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Average Revenue per Employee: ₹55,132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Top Employee Contribution:</a:t>
            </a:r>
            <a:br>
              <a:rPr lang="en-US" sz="2000" dirty="0"/>
            </a:br>
            <a:r>
              <a:rPr lang="en-US" sz="2000" dirty="0"/>
              <a:t>Aditya Singh contributes ~14.4% of total revenue.</a:t>
            </a:r>
          </a:p>
          <a:p>
            <a:pPr marL="34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Top 3 Employees Contribution:</a:t>
            </a:r>
            <a:br>
              <a:rPr lang="en-US" sz="2000" dirty="0"/>
            </a:br>
            <a:r>
              <a:rPr lang="en-US" sz="2000" dirty="0"/>
              <a:t>₹79,252.29 + ₹71,562.76 + ₹67,241.85</a:t>
            </a:r>
            <a:br>
              <a:rPr lang="en-US" sz="2000" dirty="0"/>
            </a:br>
            <a:r>
              <a:rPr lang="en-US" sz="2000" dirty="0"/>
              <a:t>= ₹218,056.90</a:t>
            </a:r>
            <a:br>
              <a:rPr lang="en-US" sz="2000" dirty="0"/>
            </a:br>
            <a:r>
              <a:rPr lang="en-US" sz="2000" dirty="0"/>
              <a:t>= </a:t>
            </a:r>
            <a:r>
              <a:rPr lang="en-US" sz="2000" b="1" dirty="0"/>
              <a:t>39.5% of total revenue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AB1FB4-FC68-EF5F-9156-0B968C17F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061" y="937865"/>
            <a:ext cx="5313435" cy="32988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FC7905-1DD3-49D6-7B67-11273C693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301" y="4444561"/>
            <a:ext cx="4324954" cy="12098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7625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157F02-7B78-339A-EECD-DFE6A05E6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913245-74F1-1FD6-E3E5-A5A64678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43" y="-19878"/>
            <a:ext cx="10860157" cy="85738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6"/>
                </a:solidFill>
              </a:rPr>
              <a:t>FINAL BUSINESS INSIGHTS &amp; RECOMMENDATIONS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5DFE6E-512A-782C-0DBD-C18175FAB5BB}"/>
              </a:ext>
            </a:extLst>
          </p:cNvPr>
          <p:cNvSpPr/>
          <p:nvPr/>
        </p:nvSpPr>
        <p:spPr>
          <a:xfrm>
            <a:off x="493643" y="857389"/>
            <a:ext cx="5290931" cy="285750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tx1"/>
                </a:solidFill>
              </a:rPr>
              <a:t>📊 1. Customer Revenue Distribution</a:t>
            </a:r>
          </a:p>
          <a:p>
            <a:r>
              <a:rPr lang="en-US" sz="1500" dirty="0">
                <a:solidFill>
                  <a:schemeClr val="tx1"/>
                </a:solidFill>
              </a:rPr>
              <a:t>Top 5 customers contribute </a:t>
            </a:r>
            <a:r>
              <a:rPr lang="en-US" sz="1500" b="1" dirty="0">
                <a:solidFill>
                  <a:schemeClr val="tx1"/>
                </a:solidFill>
              </a:rPr>
              <a:t>15.7%</a:t>
            </a:r>
            <a:r>
              <a:rPr lang="en-US" sz="1500" dirty="0">
                <a:solidFill>
                  <a:schemeClr val="tx1"/>
                </a:solidFill>
              </a:rPr>
              <a:t> of total revenue.</a:t>
            </a:r>
          </a:p>
          <a:p>
            <a:r>
              <a:rPr lang="en-US" sz="1500" dirty="0">
                <a:solidFill>
                  <a:schemeClr val="tx1"/>
                </a:solidFill>
              </a:rPr>
              <a:t>Revenue is moderately distributed across 200 customers.</a:t>
            </a:r>
          </a:p>
          <a:p>
            <a:endParaRPr lang="en-US" sz="1500" b="1" dirty="0">
              <a:solidFill>
                <a:schemeClr val="tx1"/>
              </a:solidFill>
            </a:endParaRPr>
          </a:p>
          <a:p>
            <a:r>
              <a:rPr lang="en-US" sz="1500" b="1" dirty="0">
                <a:solidFill>
                  <a:schemeClr val="tx1"/>
                </a:solidFill>
              </a:rPr>
              <a:t>🎯 Recommendation:</a:t>
            </a:r>
          </a:p>
          <a:p>
            <a:r>
              <a:rPr lang="en-US" sz="1500" dirty="0">
                <a:solidFill>
                  <a:schemeClr val="tx1"/>
                </a:solidFill>
              </a:rPr>
              <a:t>Introduce loyalty programs for top customers.</a:t>
            </a:r>
          </a:p>
          <a:p>
            <a:r>
              <a:rPr lang="en-US" sz="1500" dirty="0">
                <a:solidFill>
                  <a:schemeClr val="tx1"/>
                </a:solidFill>
              </a:rPr>
              <a:t>Offer targeted promotions to mid-tier customers.</a:t>
            </a:r>
          </a:p>
          <a:p>
            <a:r>
              <a:rPr lang="en-US" sz="1500" dirty="0">
                <a:solidFill>
                  <a:schemeClr val="tx1"/>
                </a:solidFill>
              </a:rPr>
              <a:t>Use customer segmentation (High / Medium / Low spenders).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52FF44-022B-623F-E5B7-D55270089CAB}"/>
              </a:ext>
            </a:extLst>
          </p:cNvPr>
          <p:cNvSpPr/>
          <p:nvPr/>
        </p:nvSpPr>
        <p:spPr>
          <a:xfrm>
            <a:off x="6407428" y="857389"/>
            <a:ext cx="5290931" cy="285750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</a:rPr>
              <a:t>📦 2. Product Demand Insights</a:t>
            </a:r>
          </a:p>
          <a:p>
            <a:r>
              <a:rPr lang="en-IN" sz="1600" dirty="0">
                <a:solidFill>
                  <a:schemeClr val="tx1"/>
                </a:solidFill>
              </a:rPr>
              <a:t>Essential FMCG products dominate sales.</a:t>
            </a:r>
          </a:p>
          <a:p>
            <a:r>
              <a:rPr lang="en-IN" sz="1600" dirty="0">
                <a:solidFill>
                  <a:schemeClr val="tx1"/>
                </a:solidFill>
              </a:rPr>
              <a:t>Bath Soap and hygiene products are top sellers.</a:t>
            </a:r>
          </a:p>
          <a:p>
            <a:r>
              <a:rPr lang="en-IN" sz="1600" dirty="0">
                <a:solidFill>
                  <a:schemeClr val="tx1"/>
                </a:solidFill>
              </a:rPr>
              <a:t>High repeat purchase </a:t>
            </a:r>
            <a:r>
              <a:rPr lang="en-IN" sz="1600" dirty="0" err="1">
                <a:solidFill>
                  <a:schemeClr val="tx1"/>
                </a:solidFill>
              </a:rPr>
              <a:t>behavior</a:t>
            </a:r>
            <a:r>
              <a:rPr lang="en-IN" sz="1600" dirty="0">
                <a:solidFill>
                  <a:schemeClr val="tx1"/>
                </a:solidFill>
              </a:rPr>
              <a:t> observed.</a:t>
            </a:r>
          </a:p>
          <a:p>
            <a:endParaRPr lang="en-IN" sz="1600" b="1" dirty="0">
              <a:solidFill>
                <a:schemeClr val="tx1"/>
              </a:solidFill>
            </a:endParaRPr>
          </a:p>
          <a:p>
            <a:r>
              <a:rPr lang="en-IN" sz="1600" b="1" dirty="0">
                <a:solidFill>
                  <a:schemeClr val="tx1"/>
                </a:solidFill>
              </a:rPr>
              <a:t>🎯 Recommendation:</a:t>
            </a:r>
          </a:p>
          <a:p>
            <a:r>
              <a:rPr lang="en-IN" sz="1600" dirty="0">
                <a:solidFill>
                  <a:schemeClr val="tx1"/>
                </a:solidFill>
              </a:rPr>
              <a:t>Maintain higher inventory for daily essentials.</a:t>
            </a:r>
          </a:p>
          <a:p>
            <a:r>
              <a:rPr lang="en-IN" sz="1600" dirty="0">
                <a:solidFill>
                  <a:schemeClr val="tx1"/>
                </a:solidFill>
              </a:rPr>
              <a:t>Bundle high-demand items for promotional offers.</a:t>
            </a:r>
          </a:p>
          <a:p>
            <a:r>
              <a:rPr lang="en-IN" sz="1600" dirty="0">
                <a:solidFill>
                  <a:schemeClr val="tx1"/>
                </a:solidFill>
              </a:rPr>
              <a:t>Monitor slow-moving inventory for discounting.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A82EDC-4CFD-2645-E99F-312C2DED64F3}"/>
              </a:ext>
            </a:extLst>
          </p:cNvPr>
          <p:cNvSpPr/>
          <p:nvPr/>
        </p:nvSpPr>
        <p:spPr>
          <a:xfrm>
            <a:off x="3763617" y="3875313"/>
            <a:ext cx="4664766" cy="271054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tx1"/>
                </a:solidFill>
              </a:rPr>
              <a:t>📈 3. Seasonal Revenue Trends</a:t>
            </a:r>
          </a:p>
          <a:p>
            <a:r>
              <a:rPr lang="en-US" sz="1500" dirty="0">
                <a:solidFill>
                  <a:schemeClr val="tx1"/>
                </a:solidFill>
              </a:rPr>
              <a:t>Peak revenue in </a:t>
            </a:r>
            <a:r>
              <a:rPr lang="en-US" sz="1500" b="1" dirty="0">
                <a:solidFill>
                  <a:schemeClr val="tx1"/>
                </a:solidFill>
              </a:rPr>
              <a:t>October (₹66,862.80)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</a:p>
          <a:p>
            <a:r>
              <a:rPr lang="en-US" sz="1500" dirty="0">
                <a:solidFill>
                  <a:schemeClr val="tx1"/>
                </a:solidFill>
              </a:rPr>
              <a:t>Lowest month: </a:t>
            </a:r>
            <a:r>
              <a:rPr lang="en-US" sz="1500" b="1" dirty="0">
                <a:solidFill>
                  <a:schemeClr val="tx1"/>
                </a:solidFill>
              </a:rPr>
              <a:t>July (₹32,654.79)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</a:p>
          <a:p>
            <a:r>
              <a:rPr lang="en-US" sz="1500" dirty="0">
                <a:solidFill>
                  <a:schemeClr val="tx1"/>
                </a:solidFill>
              </a:rPr>
              <a:t>Clear Q4 demand spike (Oct–Dec).</a:t>
            </a:r>
          </a:p>
          <a:p>
            <a:endParaRPr lang="en-US" sz="1500" b="1" dirty="0">
              <a:solidFill>
                <a:schemeClr val="tx1"/>
              </a:solidFill>
            </a:endParaRPr>
          </a:p>
          <a:p>
            <a:r>
              <a:rPr lang="en-US" sz="1500" b="1" dirty="0">
                <a:solidFill>
                  <a:schemeClr val="tx1"/>
                </a:solidFill>
              </a:rPr>
              <a:t>🎯 Recommendation:</a:t>
            </a:r>
          </a:p>
          <a:p>
            <a:r>
              <a:rPr lang="en-US" sz="1500" dirty="0">
                <a:solidFill>
                  <a:schemeClr val="tx1"/>
                </a:solidFill>
              </a:rPr>
              <a:t>Increase stock before festive season.</a:t>
            </a:r>
          </a:p>
          <a:p>
            <a:r>
              <a:rPr lang="en-US" sz="1500" dirty="0">
                <a:solidFill>
                  <a:schemeClr val="tx1"/>
                </a:solidFill>
              </a:rPr>
              <a:t>Launch marketing campaigns during low months.</a:t>
            </a:r>
          </a:p>
          <a:p>
            <a:r>
              <a:rPr lang="en-US" sz="1500" dirty="0">
                <a:solidFill>
                  <a:schemeClr val="tx1"/>
                </a:solidFill>
              </a:rPr>
              <a:t>Use monthly revenue trend for demand forecasting.</a:t>
            </a:r>
          </a:p>
        </p:txBody>
      </p:sp>
    </p:spTree>
    <p:extLst>
      <p:ext uri="{BB962C8B-B14F-4D97-AF65-F5344CB8AC3E}">
        <p14:creationId xmlns:p14="http://schemas.microsoft.com/office/powerpoint/2010/main" val="238426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4F10F3-C08A-530C-B4A8-2F8E8DCAB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8C051A-A13C-F60F-D7D6-2C9C0426875A}"/>
              </a:ext>
            </a:extLst>
          </p:cNvPr>
          <p:cNvSpPr/>
          <p:nvPr/>
        </p:nvSpPr>
        <p:spPr>
          <a:xfrm>
            <a:off x="672545" y="745433"/>
            <a:ext cx="4890052" cy="249472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🏭 4. Supplier Risk Analysis</a:t>
            </a:r>
          </a:p>
          <a:p>
            <a:r>
              <a:rPr lang="en-US" dirty="0">
                <a:solidFill>
                  <a:schemeClr val="tx1"/>
                </a:solidFill>
              </a:rPr>
              <a:t>Aarya contributes </a:t>
            </a:r>
            <a:r>
              <a:rPr lang="en-US" b="1" dirty="0">
                <a:solidFill>
                  <a:schemeClr val="tx1"/>
                </a:solidFill>
              </a:rPr>
              <a:t>40.1% of total revenue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Top 3 suppliers contribute nearly 79% revenue.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🎯 Recommendation:</a:t>
            </a:r>
          </a:p>
          <a:p>
            <a:r>
              <a:rPr lang="en-US" dirty="0">
                <a:solidFill>
                  <a:schemeClr val="tx1"/>
                </a:solidFill>
              </a:rPr>
              <a:t>Diversify supplier base.</a:t>
            </a:r>
          </a:p>
          <a:p>
            <a:r>
              <a:rPr lang="en-US" dirty="0">
                <a:solidFill>
                  <a:schemeClr val="tx1"/>
                </a:solidFill>
              </a:rPr>
              <a:t>Negotiate better pricing with top supplier.</a:t>
            </a:r>
          </a:p>
          <a:p>
            <a:r>
              <a:rPr lang="en-US" dirty="0">
                <a:solidFill>
                  <a:schemeClr val="tx1"/>
                </a:solidFill>
              </a:rPr>
              <a:t>Develop backup vendor strategy.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B9EA0A-2449-1BA7-90D8-CCC16572EA63}"/>
              </a:ext>
            </a:extLst>
          </p:cNvPr>
          <p:cNvSpPr/>
          <p:nvPr/>
        </p:nvSpPr>
        <p:spPr>
          <a:xfrm>
            <a:off x="6629405" y="745433"/>
            <a:ext cx="4890052" cy="2494722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👨‍💼 5. Employee Productivity Insights</a:t>
            </a:r>
          </a:p>
          <a:p>
            <a:r>
              <a:rPr lang="en-US" dirty="0">
                <a:solidFill>
                  <a:schemeClr val="tx1"/>
                </a:solidFill>
              </a:rPr>
              <a:t>Revenue distributed across 10 employees.</a:t>
            </a:r>
          </a:p>
          <a:p>
            <a:r>
              <a:rPr lang="en-US" dirty="0">
                <a:solidFill>
                  <a:schemeClr val="tx1"/>
                </a:solidFill>
              </a:rPr>
              <a:t>Top 3 employees contribute 39.5% revenue.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🎯 Recommendation:</a:t>
            </a:r>
          </a:p>
          <a:p>
            <a:r>
              <a:rPr lang="en-US" dirty="0">
                <a:solidFill>
                  <a:schemeClr val="tx1"/>
                </a:solidFill>
              </a:rPr>
              <a:t>Introduce performance-based incentives.</a:t>
            </a:r>
          </a:p>
          <a:p>
            <a:r>
              <a:rPr lang="en-US" dirty="0">
                <a:solidFill>
                  <a:schemeClr val="tx1"/>
                </a:solidFill>
              </a:rPr>
              <a:t>Share best practices of top performers.</a:t>
            </a:r>
          </a:p>
          <a:p>
            <a:r>
              <a:rPr lang="en-US" dirty="0">
                <a:solidFill>
                  <a:schemeClr val="tx1"/>
                </a:solidFill>
              </a:rPr>
              <a:t>Monitor revenue per employee monthly.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6F99F7-6D3A-DFBB-4790-6AE4613C0E79}"/>
              </a:ext>
            </a:extLst>
          </p:cNvPr>
          <p:cNvSpPr/>
          <p:nvPr/>
        </p:nvSpPr>
        <p:spPr>
          <a:xfrm>
            <a:off x="3650974" y="3617845"/>
            <a:ext cx="4890052" cy="249472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</a:rPr>
              <a:t>🧠 Overall Strategic View</a:t>
            </a:r>
          </a:p>
          <a:p>
            <a:r>
              <a:rPr lang="en-IN" sz="1600" b="1" dirty="0">
                <a:solidFill>
                  <a:schemeClr val="tx1"/>
                </a:solidFill>
              </a:rPr>
              <a:t>Data-driven decisions can improve: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Profit margins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Operational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Inventory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Supplier negotiation power</a:t>
            </a:r>
          </a:p>
        </p:txBody>
      </p:sp>
    </p:spTree>
    <p:extLst>
      <p:ext uri="{BB962C8B-B14F-4D97-AF65-F5344CB8AC3E}">
        <p14:creationId xmlns:p14="http://schemas.microsoft.com/office/powerpoint/2010/main" val="266068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5B355A-FC0A-A3DC-2029-B583C1927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96A77D-B847-E72A-4BA2-7C3C798A3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235" y="18256"/>
            <a:ext cx="10515600" cy="975658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6"/>
                </a:solidFill>
              </a:rPr>
              <a:t>CHALLENGES &amp; EXPERIENCE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D8313-750E-0F59-A596-89EDBF92E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93914"/>
            <a:ext cx="10515600" cy="518304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/>
              <a:t>Challenges Faced:</a:t>
            </a:r>
          </a:p>
          <a:p>
            <a:r>
              <a:rPr lang="en-US" sz="2400" dirty="0"/>
              <a:t>Handling inconsistent date formats in orders table.</a:t>
            </a:r>
          </a:p>
          <a:p>
            <a:r>
              <a:rPr lang="en-US" sz="2400" dirty="0"/>
              <a:t>Writing complex multi-table joins.</a:t>
            </a:r>
          </a:p>
          <a:p>
            <a:r>
              <a:rPr lang="en-US" sz="2400" dirty="0"/>
              <a:t>Managing foreign key constraints.</a:t>
            </a:r>
          </a:p>
          <a:p>
            <a:r>
              <a:rPr lang="en-US" sz="2400" dirty="0"/>
              <a:t>Converting raw data into business insights.</a:t>
            </a:r>
          </a:p>
          <a:p>
            <a:pPr marL="114300" indent="0">
              <a:buNone/>
            </a:pPr>
            <a:r>
              <a:rPr lang="en-US" sz="2400" b="1" dirty="0"/>
              <a:t>Learning Outcome:</a:t>
            </a:r>
          </a:p>
          <a:p>
            <a:r>
              <a:rPr lang="en-US" sz="2400" dirty="0"/>
              <a:t>Improved advanced SQL skills.</a:t>
            </a:r>
          </a:p>
          <a:p>
            <a:r>
              <a:rPr lang="en-US" sz="2400" dirty="0"/>
              <a:t>Better understanding of relational database design.</a:t>
            </a:r>
          </a:p>
          <a:p>
            <a:r>
              <a:rPr lang="en-US" sz="2400" dirty="0"/>
              <a:t>Experience in real-world messy data handling.</a:t>
            </a:r>
          </a:p>
          <a:p>
            <a:r>
              <a:rPr lang="en-US" sz="2400" dirty="0"/>
              <a:t>Stronger business analytics thinking.</a:t>
            </a:r>
          </a:p>
          <a:p>
            <a:pPr marL="11430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241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692DFF-6C86-CAB7-043E-3AB90CA40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487902-BB25-E0D2-EA7A-5C81DC30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69" y="18255"/>
            <a:ext cx="10515600" cy="103529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6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B5A0A-7A80-E76B-689A-A18D275E1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869" y="867293"/>
            <a:ext cx="10383080" cy="5185638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lang="en-IN" dirty="0"/>
              <a:t>This project successfully designed and </a:t>
            </a:r>
            <a:r>
              <a:rPr lang="en-IN" dirty="0" err="1"/>
              <a:t>analyzed</a:t>
            </a:r>
            <a:r>
              <a:rPr lang="en-IN" dirty="0"/>
              <a:t> a relational grocery store database using SQL.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Key Findings</a:t>
            </a:r>
          </a:p>
          <a:p>
            <a:r>
              <a:rPr lang="en-IN" dirty="0"/>
              <a:t>Total Revenue: </a:t>
            </a:r>
            <a:r>
              <a:rPr lang="en-IN" b="1" dirty="0"/>
              <a:t>₹551,329.93</a:t>
            </a:r>
            <a:endParaRPr lang="en-IN" dirty="0"/>
          </a:p>
          <a:p>
            <a:r>
              <a:rPr lang="en-IN" dirty="0"/>
              <a:t>Strong seasonal spike in </a:t>
            </a:r>
            <a:r>
              <a:rPr lang="en-IN" b="1" dirty="0"/>
              <a:t>October</a:t>
            </a:r>
            <a:endParaRPr lang="en-IN" dirty="0"/>
          </a:p>
          <a:p>
            <a:r>
              <a:rPr lang="en-IN" dirty="0"/>
              <a:t>Top supplier contributes </a:t>
            </a:r>
            <a:r>
              <a:rPr lang="en-IN" b="1" dirty="0"/>
              <a:t>40% of revenue</a:t>
            </a:r>
            <a:endParaRPr lang="en-IN" dirty="0"/>
          </a:p>
          <a:p>
            <a:r>
              <a:rPr lang="en-IN" dirty="0"/>
              <a:t>Balanced employee performance</a:t>
            </a:r>
          </a:p>
          <a:p>
            <a:r>
              <a:rPr lang="en-IN" dirty="0"/>
              <a:t>Essential FMCG products dominate sales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Technical Skills Applied</a:t>
            </a:r>
          </a:p>
          <a:p>
            <a:r>
              <a:rPr lang="en-IN" dirty="0"/>
              <a:t>Multi-table JOIN operations</a:t>
            </a:r>
          </a:p>
          <a:p>
            <a:r>
              <a:rPr lang="en-IN" dirty="0"/>
              <a:t>Aggregations (SUM, AVG, COUNT)</a:t>
            </a:r>
          </a:p>
          <a:p>
            <a:r>
              <a:rPr lang="en-IN" dirty="0"/>
              <a:t>Subqueries &amp; filtering</a:t>
            </a:r>
          </a:p>
          <a:p>
            <a:r>
              <a:rPr lang="en-IN" dirty="0"/>
              <a:t>Handling inconsistent date formats</a:t>
            </a:r>
          </a:p>
          <a:p>
            <a:r>
              <a:rPr lang="en-IN" dirty="0"/>
              <a:t>KPI &amp; revenue percentage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Final Takeaway</a:t>
            </a:r>
          </a:p>
          <a:p>
            <a:r>
              <a:rPr lang="en-IN" dirty="0"/>
              <a:t>This project demonstrates how SQL can transform raw transactional data into meaningful business insights and support data-driven decision making.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810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9EDE4A-4E2F-306A-0E5C-CED23B8C6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6" name="Google Shape;11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402340" y="2456543"/>
            <a:ext cx="3661836" cy="194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chemeClr val="accent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3434</TotalTime>
  <Words>1009</Words>
  <Application>Microsoft Office PowerPoint</Application>
  <PresentationFormat>Widescreen</PresentationFormat>
  <Paragraphs>185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Arial</vt:lpstr>
      <vt:lpstr>Lato Black</vt:lpstr>
      <vt:lpstr>Libre Baskerville</vt:lpstr>
      <vt:lpstr>Wingdings</vt:lpstr>
      <vt:lpstr>Office Theme</vt:lpstr>
      <vt:lpstr>PowerPoint Presentation</vt:lpstr>
      <vt:lpstr>PowerPoint Presentation</vt:lpstr>
      <vt:lpstr>Agenda   </vt:lpstr>
      <vt:lpstr>OBJECTIVE OF THE PROJECT</vt:lpstr>
      <vt:lpstr>ER DIAGRAM</vt:lpstr>
      <vt:lpstr>SCHEMA EXPLANATION:</vt:lpstr>
      <vt:lpstr>KEY ANALYSIS QUESTIONS (USE CASES)</vt:lpstr>
      <vt:lpstr>SQL QUERY RESULTS (CUSTOMER INSIGHTS)</vt:lpstr>
      <vt:lpstr>SQL QUERY RESULTS (PRODUCT PERFORMANCE)</vt:lpstr>
      <vt:lpstr>SQL QUERY RESULTS (REVENUE &amp; TRENDS)</vt:lpstr>
      <vt:lpstr>SQL QUERY RESULTS (SUPPLIER CONTRIBUTION)</vt:lpstr>
      <vt:lpstr>SQL QUERY RESULTS (EMPLOYEE PERFORMANCE)</vt:lpstr>
      <vt:lpstr>SQL QUERY RESULTS (EMPLOYEE PERFORMANCE)</vt:lpstr>
      <vt:lpstr>FINAL BUSINESS INSIGHTS &amp; RECOMMENDATIONS</vt:lpstr>
      <vt:lpstr>PowerPoint Presentation</vt:lpstr>
      <vt:lpstr>CHALLENGES &amp; EXPERIENCE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Sumit Mangalwedhekar</cp:lastModifiedBy>
  <cp:revision>41</cp:revision>
  <dcterms:created xsi:type="dcterms:W3CDTF">2021-02-16T05:19:01Z</dcterms:created>
  <dcterms:modified xsi:type="dcterms:W3CDTF">2026-04-19T19:21:53Z</dcterms:modified>
</cp:coreProperties>
</file>